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GuardSpine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4FBCB8"/>
                </a:solidFill>
                <a:latin typeface="Calibri"/>
              </a:defRPr>
            </a:pPr>
            <a:r>
              <a:t>Cryptographic Proof for Every AI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274320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governance spine for AI-generated code, documents, spreadsheets, and 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Angel Investor Brief  | 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David Youssef, CEO  |  david@guardspine.io  |  github.com/DNYoussef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Calibri"/>
              </a:defRPr>
            </a:pPr>
            <a:r>
              <a:t>Every AI Decision Is a Liability Without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$51B total addressable market across all AI artifact types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competitor governs docs, spreadsheets, or images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EU AI Act enforcement: Aug 2, 2026 (7% turnover fines)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SOX, HIPAA, and DORA all require tamper-proof audit trails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Enterprises use AI daily but cannot prove what it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Sources: EU AI Act Art. 99; Gartner AI governance TAM 2025</a:t>
            </a:r>
          </a:p>
        </p:txBody>
      </p:sp>
      <p:pic>
        <p:nvPicPr>
          <p:cNvPr id="6" name="Picture 5" descr="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4169525"/>
          </a:xfrm>
          <a:prstGeom prst="rect">
            <a:avLst/>
          </a:prstGeom>
        </p:spPr>
      </p:pic>
      <p:pic>
        <p:nvPicPr>
          <p:cNvPr id="7" name="Picture 6" descr="vine_pattern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6480"/>
            <a:ext cx="1219169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$51B Governance Gap Opens August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EU AI Act enforcement begins Aug 2, 2026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79% of enterprises adopted agentic AI (Capgemini Feb 2026)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AI agents write code, draft contracts, edit spreadsheets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Zero tools provide cross-artifact governance today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First-mover window: 6-12 months before incumbents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Source: Capgemini Research Institute, Feb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FBCB8"/>
                </a:solidFill>
                <a:latin typeface="Calibri"/>
              </a:defRPr>
            </a:pPr>
            <a:r>
              <a:t>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of enterprises now use agentic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but none can prove what the AI did,</a:t>
            </a:r>
            <a:br/>
            <a:r>
              <a:t>who approved it, or whether it was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Calibri"/>
              </a:defRPr>
            </a:pPr>
            <a:r>
              <a:t>We Answer One Question: Are We in Control?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AI reviews every change (code, PDF, spreadsheet, image)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Risk tier assigned: auto-pass to executive approval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Hash-chained evidence bundle created per decision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Decision card posted: APPROVED / CONDITIONAL / BLOCKED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Escalation policies enforce SLAs by risk tier</a:t>
            </a:r>
          </a:p>
        </p:txBody>
      </p:sp>
      <p:pic>
        <p:nvPicPr>
          <p:cNvPr id="5" name="Picture 4" descr="four_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888211"/>
          </a:xfrm>
          <a:prstGeom prst="rect">
            <a:avLst/>
          </a:prstGeom>
        </p:spPr>
      </p:pic>
      <p:pic>
        <p:nvPicPr>
          <p:cNvPr id="6" name="Picture 5" descr="vine_pattern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6480"/>
            <a:ext cx="1219169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We Guard What Nobody Else Touches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Lane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Guards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Types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CodeGuard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Pull requests, commits,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Any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Live (v1.0.1)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PDFGuard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 revisions, contracts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SheetGuard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Spreadsheet changes, KPIs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.xlsx, .xlsm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ImageGuard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 asset swaps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.png, .jpg, .tiff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Roadmap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BCB8"/>
                </a:solidFill>
                <a:latin typeface="Calibri"/>
              </a:defRPr>
            </a:pPr>
            <a:r>
              <a:t>Every competitor stops at code. We govern all AI artifacts.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Calibri"/>
              </a:defRPr>
            </a:pPr>
            <a:r>
              <a:t>87-91% Margins on Zero Inference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Bring Your Own Key: customers supply their LLM API keys.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0312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Price/mo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 (Multi-Lane)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Calibri"/>
              </a:defRPr>
            </a:pPr>
            <a:r>
              <a:t>Open-Core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FREE: Spec, kernels, GitHub Action (Apache 2.0)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PAID: Dashboard, multi-lane guards, SSO, workflows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Complements SBOM: we track what HAPPENED to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Industry average SaaS margin: 70-80%</a:t>
            </a:r>
          </a:p>
        </p:txBody>
      </p:sp>
      <p:pic>
        <p:nvPicPr>
          <p:cNvPr id="9" name="Picture 8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6480"/>
            <a:ext cx="1219169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85% Built. Revenue in Weeks, Not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BCB8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24-page React 19 + FastAPI application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33 backend services, 149+ API routes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SSO (Okta, Entra ID, Google) + role-based access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428 tests passing, full CI pipeline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12 public repos on GitHub (Apache 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BCB8"/>
                </a:solidFill>
                <a:latin typeface="Calibri"/>
              </a:defRPr>
            </a:pPr>
            <a:r>
              <a:t>AI &amp;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codeguard-action live on GitHub Marketplace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13 compliance rubric packs (SOX, HIPAA, SOC2...)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 AI providers with multi-model consensus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Entropy-based secret detection (PII-Shield)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Cross-language hash parity (TypeScript + 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BCB8"/>
                </a:solidFill>
                <a:latin typeface="Calibri"/>
              </a:defRPr>
            </a:pPr>
            <a:r>
              <a:t>Team tier ships in 1-2 weeks. Org tier ships in 2-3 weeks.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Calibri"/>
              </a:defRPr>
            </a:pPr>
            <a:r>
              <a:t>Conservative Path to $36.8M ARR by Year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ARR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 ARR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$1.28M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$36.8M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$535M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Base case is the planning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Calibri"/>
              </a:defRPr>
            </a:pPr>
            <a:r>
              <a:t>Why These Numbers Are Achievable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EU AI Act creates forced buying event in Aug 2026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Product is 85%+ built -- not a pitch, not a prototype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Multi-lane expansion drives 120-130% net revenue retention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Zero inference cost = no margin compression at scale</a:t>
            </a:r>
          </a:p>
        </p:txBody>
      </p:sp>
      <p:pic>
        <p:nvPicPr>
          <p:cNvPr id="8" name="Picture 7" descr="revenue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114800"/>
            <a:ext cx="4572000" cy="2724727"/>
          </a:xfrm>
          <a:prstGeom prst="rect">
            <a:avLst/>
          </a:prstGeom>
        </p:spPr>
      </p:pic>
      <p:pic>
        <p:nvPicPr>
          <p:cNvPr id="9" name="Picture 8" descr="vine_pattern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6480"/>
            <a:ext cx="1219169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9 of 9 Governance Dimensions. Nearest Rival: 3.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Hash-chained evidence: cryptographic proof, not just logs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Model-neutral: any LLM provider, including airgapped deploys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Complements SBOM: SBOM tracks components, we track decisions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Z-Inspection alignment: third-party trustworthy AI methodology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Four artifact lanes vs. competitors' code-only approach</a:t>
            </a:r>
          </a:p>
        </p:txBody>
      </p:sp>
      <p:pic>
        <p:nvPicPr>
          <p:cNvPr id="7" name="Picture 6" descr="competitive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846320" cy="4344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Source: Internal analysis of 7 named competitors, Feb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1B2A"/>
                </a:solidFill>
                <a:latin typeface="Calibri"/>
              </a:defRPr>
            </a:pPr>
            <a:r>
              <a:t>Built by Engineers Who Ship, Not Consultants Who Advise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David built GuardSpine after watching AI-generated code ship to production with zero oversight -- and no way to prove what happened.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9456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Background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David Youssef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CEO / Architect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systems eng, 12-repo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Igor Malovitsa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13yr commercial eng, Rust, crypto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Kristen Hengst Smith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Product-to-market, angel network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Calibri"/>
              </a:defRPr>
            </a:pPr>
            <a:r>
              <a:t>Strategic Partners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0" y="25603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Partner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Ishwar (IBM / Z-Inspection)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Jacob (G7 AI governance)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Standards + gov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Chris Hood (ex-Google)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Advisor, 7yr Google, USPTO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Triangle Strategy: IBM pilot + G7 standards + cognitive patents. 2 of 4 gates done.</a:t>
            </a:r>
          </a:p>
        </p:txBody>
      </p:sp>
      <p:pic>
        <p:nvPicPr>
          <p:cNvPr id="9" name="Picture 8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6480"/>
            <a:ext cx="1219169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$1M Buys 6.25% of a $15M Pre-Money Company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25 months of runway at $40K/mo burn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Founder compensation (2yr)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$480K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hire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Legal &amp; compliance (SOC2, patents)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 + 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Contingency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BCB8"/>
                </a:solidFill>
                <a:latin typeface="Calibri"/>
              </a:defRPr>
            </a:pPr>
            <a:r>
              <a:t>Milestones This Round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Ship Team + Org tiers (weeks 1-3)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First 5 enterprise design partners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SOC 2 Type I certification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AWS + Azure Marketplace listings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IBM pilot via Ishwar (Q3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BCB8"/>
                </a:solidFill>
                <a:latin typeface="Calibri"/>
              </a:defRPr>
            </a:pPr>
            <a:r>
              <a:t>Investor Return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At base-case $316M exit: $62.5K investment becomes $1.2M (20x).</a:t>
            </a:r>
            <a:br/>
            <a:r>
              <a:t>34% base probability, 48-52% with AI tailwinds.</a:t>
            </a:r>
          </a:p>
        </p:txBody>
      </p:sp>
      <p:pic>
        <p:nvPicPr>
          <p:cNvPr id="12" name="Picture 11" descr="ai_unicorn_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5029200" cy="2601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_pattern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Every AI decision. Governed. Proved. Trusted.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286000"/>
            <a:ext cx="3017520" cy="50800"/>
          </a:xfrm>
          <a:prstGeom prst="rect">
            <a:avLst/>
          </a:prstGeom>
          <a:solidFill>
            <a:srgbClr val="4F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We are building the world where enterprises ship AI with confidence --</a:t>
            </a:r>
            <a:br/>
            <a:r>
              <a:t>not because they trust the model, but because they can prove</a:t>
            </a:r>
            <a:br/>
            <a:r>
              <a:t>every decision it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BCB8"/>
                </a:solidFill>
                <a:latin typeface="Calibri"/>
              </a:defRPr>
            </a:pPr>
            <a:r>
              <a:t>David Youssef  |  david@guardspine.io  |  github.com/DNYoussef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Confidential -- intended for named recipient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